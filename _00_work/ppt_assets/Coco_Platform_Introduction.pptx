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0" y="3168000"/>
            <a:ext cx="2160000" cy="288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1800000"/>
            <a:ext cx="10032119" cy="1440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/>
            <a:r>
              <a:rPr sz="4000" b="1" i="0">
                <a:solidFill>
                  <a:srgbClr val="FFFFFF"/>
                </a:solidFill>
                <a:latin typeface="Pretendard"/>
              </a:rPr>
              <a:t>Coco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3420000"/>
            <a:ext cx="10032119" cy="7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FFF5F0"/>
                </a:solidFill>
                <a:latin typeface="Pretendard"/>
              </a:rPr>
              <a:t>AI 코드 거버넌스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4680000"/>
            <a:ext cx="1003211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FF5F0"/>
                </a:solidFill>
                <a:latin typeface="Pretendard"/>
              </a:rPr>
              <a:t>Secern AI |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기업 환경의 AI 코딩 도구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11328119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폐쇄망 제약 — 외부 클라우드 AI 서비스 사용 불가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품질 일관성 부재 — 동일 입력에 매번 다른 코드 생성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감사 추적 불가 — AI 생성 코드의 변경 이력 관리 불가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LLM 종속 — 특정 모델 교체 시 전체 시스템 변경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Coco 솔루션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1152000"/>
            <a:ext cx="10752119" cy="108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200" b="1" i="0">
                <a:solidFill>
                  <a:srgbClr val="FF4800"/>
                </a:solidFill>
                <a:latin typeface="Pretendard"/>
              </a:rPr>
              <a:t>단순 AI 코드 생성이 아닌, AI 코드 거버넌스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0" y="2412000"/>
            <a:ext cx="6432119" cy="18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0000" y="2664000"/>
            <a:ext cx="10032119" cy="3906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기업 표준 자동 적용 + 생성 코드의 완전한 추적 가능성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대상: 폐쇄망, 온프레미스 LLM, 규제 산업 기업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금융권, 공공기관, 대기업 SI 환경 특화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제품 구성</a:t>
            </a:r>
          </a:p>
        </p:txBody>
      </p:sp>
      <p:pic>
        <p:nvPicPr>
          <p:cNvPr id="4" name="Picture 3" descr="slide04_product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" y="864000"/>
            <a:ext cx="10968119" cy="559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6단계 결정론적 파이프라인</a:t>
            </a:r>
          </a:p>
        </p:txBody>
      </p:sp>
      <p:pic>
        <p:nvPicPr>
          <p:cNvPr id="4" name="Picture 3" descr="slide05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" y="864000"/>
            <a:ext cx="10968119" cy="363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610700"/>
            <a:ext cx="11328119" cy="1679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동일 입력 → 동일 출력 보장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각 단계에서 검증/로깅으로 완전한 추적 가능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두 가지 코드 생성 전략 — CGF-A vs CGF-B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900000"/>
          <a:ext cx="11328119" cy="54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029"/>
                <a:gridCol w="2832029"/>
                <a:gridCol w="2832029"/>
                <a:gridCol w="2832032"/>
              </a:tblGrid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지표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CGF-A (Direct)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CGF-B (Spec-first)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비고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평균 응답시간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48,780ms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16,964ms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CGF-B 65% 빠름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품질 우위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1/4 (25%)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3/4 (75%)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CGF-B 우수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코드 일관성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LLM 의존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MCP 결정론적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CGF-B 우수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확장성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모델별 재학습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스펙 기반 확장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CGF-B 우수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UASL/SUIS — 프레임워크 중립 UI 언어</a:t>
            </a:r>
          </a:p>
        </p:txBody>
      </p:sp>
      <p:pic>
        <p:nvPicPr>
          <p:cNvPr id="4" name="Picture 3" descr="slide07_uasl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" y="864000"/>
            <a:ext cx="10968119" cy="363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610700"/>
            <a:ext cx="11328119" cy="1679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WHAT(의도)을 기술, HOW(구현)는 어댑터 담당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동일 스펙으로 xFrame5, Vue3, React 동시 생성 가능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DOM 이벤트가 아닌 의미적 트리거 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6대 USP</a:t>
            </a:r>
          </a:p>
        </p:txBody>
      </p:sp>
      <p:pic>
        <p:nvPicPr>
          <p:cNvPr id="4" name="Picture 3" descr="slide08_usp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" y="864000"/>
            <a:ext cx="10968119" cy="559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지원 프레임워크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900000"/>
          <a:ext cx="11328119" cy="54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23"/>
                <a:gridCol w="2265623"/>
                <a:gridCol w="2265623"/>
                <a:gridCol w="2265623"/>
                <a:gridCol w="2265627"/>
              </a:tblGrid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프레임워크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코드 생성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프리뷰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MCP 서버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상태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xFrame5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XML + JS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런타임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xframe5-compiler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운영 중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Vue3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SFC (.vue)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런타임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vue-compiler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운영 중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Spring Boot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Phase 2 (예정)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—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spring-compiler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계획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React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Phase 3 (예정)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—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—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계획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Coco Studio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웹 기반 통합 개발 환경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코드 생성 · 리뷰 · Q&amp;A · 프리뷰 통합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브라우저 기반 — 설치 불필요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테스트 URL: coco.secernai.net</a:t>
            </a:r>
          </a:p>
        </p:txBody>
      </p:sp>
      <p:pic>
        <p:nvPicPr>
          <p:cNvPr id="5" name="Picture 4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Workspace — 엔티티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React Flow 기반 도메인 모델 시각화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엔티티 간 관계선 · 줌/패닝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user, task, project, comment 4개 엔티티</a:t>
            </a:r>
          </a:p>
        </p:txBody>
      </p:sp>
      <p:pic>
        <p:nvPicPr>
          <p:cNvPr id="5" name="Picture 4" descr="02_workspac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Workspace — 엔티티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Fields — 필드 목록 (이름, 타입, 제약조건)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Relations — 엔티티 간 관계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Outputs — 생성 이력 관리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Chat — 엔티티 컨텍스트 대화</a:t>
            </a:r>
          </a:p>
        </p:txBody>
      </p:sp>
      <p:pic>
        <p:nvPicPr>
          <p:cNvPr id="5" name="Picture 4" descr="03_workspace_fiel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도메인 모델 Import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SQL DDL, JSON Schema, OpenAPI, YAML 4종 지원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파일 업로드 · 드래그 앤 드롭 · 붙여넣기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히스토리 관리: task.schema.json → 4개 엔티티</a:t>
            </a:r>
          </a:p>
        </p:txBody>
      </p:sp>
      <p:pic>
        <p:nvPicPr>
          <p:cNvPr id="5" name="Picture 4" descr="13_impor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코드 생성 (Generate)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자연어 프롬프트로 코드 생성 요청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CGF-B 파이프라인 자동 실행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한국어/영어 프롬프트 모두 지원</a:t>
            </a:r>
          </a:p>
        </p:txBody>
      </p:sp>
      <p:pic>
        <p:nvPicPr>
          <p:cNvPr id="5" name="Picture 4" descr="07_chat_gene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코드 생성 — 실행 과정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1. Intent Analysis → 엔티티 인식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2. Modeling entities → 도메인 그래프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3. UI Spec 생성 → confidence: 85%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4. 사용자 승인 게이트 (Approve/Modify/Reject)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5. MCP 코드 컴파일 → 완료</a:t>
            </a:r>
          </a:p>
        </p:txBody>
      </p:sp>
      <p:pic>
        <p:nvPicPr>
          <p:cNvPr id="5" name="Picture 4" descr="09_chat_approval_g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코드 생성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XML + JS + Mock JSON 3파일 생성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응답 시간: 12초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코드 블록 복사 및 프리뷰 제공</a:t>
            </a:r>
          </a:p>
        </p:txBody>
      </p:sp>
      <p:pic>
        <p:nvPicPr>
          <p:cNvPr id="5" name="Picture 4" descr="08_chat_generat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코드 프리뷰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생성된 코드를 xFrame5 런타임에서 즉시 확인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검색 패널 + 액션 버튼 + 데이터 그리드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20행 mock 데이터, 9개 컬럼</a:t>
            </a:r>
          </a:p>
        </p:txBody>
      </p:sp>
      <p:pic>
        <p:nvPicPr>
          <p:cNvPr id="5" name="Picture 4" descr="12_code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지식 기반 Q&amp;A (Ask)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RAG 기반 프레임워크 문서 검색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xFrame5 API 설명 + 코드 예시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정확한 답변 + 출처 명시</a:t>
            </a:r>
          </a:p>
        </p:txBody>
      </p:sp>
      <p:pic>
        <p:nvPicPr>
          <p:cNvPr id="5" name="Picture 4" descr="10_cha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Q&amp;A — 답변 품질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지식 그래프 시각화 (노드 탐색)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출처 명시 + 관련 주제 추천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환각 방지: '정확한 정보가 없습니다' 정직성 고지</a:t>
            </a:r>
          </a:p>
        </p:txBody>
      </p:sp>
      <p:pic>
        <p:nvPicPr>
          <p:cNvPr id="5" name="Picture 4" descr="11_chat_ask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엔티티 컨텍스트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특정 엔티티 스코프 내 Q&amp;A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Chat context: user (9 fields)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엔티티 특화 답변 제공</a:t>
            </a:r>
          </a:p>
        </p:txBody>
      </p:sp>
      <p:pic>
        <p:nvPicPr>
          <p:cNvPr id="5" name="Picture 4" descr="06_workspace_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일괄 생성 (Generate System)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다수 엔티티 × Screen Types 조합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4개 엔티티 × 3 Types = 12 화면 일괄 생성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List Screen, Detail Screen, Editor Screen</a:t>
            </a:r>
          </a:p>
        </p:txBody>
      </p:sp>
      <p:pic>
        <p:nvPicPr>
          <p:cNvPr id="5" name="Picture 4" descr="14_generate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프로젝트 관리 &amp;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프로젝트 생성: Spring Boot, Vue 3, xFrame5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모델 설정: Qwen2.5 Coder 32B AWQ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RAG 설정: Token Budget 1500, Similarity 0.70</a:t>
            </a:r>
          </a:p>
        </p:txBody>
      </p:sp>
      <p:pic>
        <p:nvPicPr>
          <p:cNvPr id="5" name="Picture 4" descr="15_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다크모드 &amp;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4320000" cy="577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다크모드 전체 UI 일관 적용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Profile 관리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접근성 향상</a:t>
            </a:r>
          </a:p>
        </p:txBody>
      </p:sp>
      <p:pic>
        <p:nvPicPr>
          <p:cNvPr id="5" name="Picture 4" descr="16_dark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0" y="792000"/>
            <a:ext cx="6828119" cy="55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Coco CLI 소개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11328119" cy="108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터미널 기반 코드 생성 · 리뷰 · Q&amp;A 도구</a:t>
            </a:r>
          </a:p>
        </p:txBody>
      </p:sp>
      <p:sp>
        <p:nvSpPr>
          <p:cNvPr id="5" name="Rectangle 4"/>
          <p:cNvSpPr/>
          <p:nvPr/>
        </p:nvSpPr>
        <p:spPr>
          <a:xfrm>
            <a:off x="540000" y="2052000"/>
            <a:ext cx="11112119" cy="423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2160000"/>
            <a:ext cx="10752119" cy="4014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E0E0E0"/>
                </a:solidFill>
                <a:latin typeface="Pretendard"/>
              </a:rPr>
              <a:t>coco qa "팝업 창을 어떻게 여나요?" --product xframe5 --language ko
coco review sample_code.xml --product xframe5
coco generate "user list screen" --product xframe5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CLI — Q&amp;A 기능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900000"/>
          <a:ext cx="11328119" cy="54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23"/>
                <a:gridCol w="2265623"/>
                <a:gridCol w="2265623"/>
                <a:gridCol w="2265623"/>
                <a:gridCol w="2265627"/>
              </a:tblGrid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테스트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언어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형식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응답시간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결과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팝업 창 여는 법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한국어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Text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23.8초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PASS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How to open popup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영어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Text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34.2초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PASS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Grid 데이터 필터링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한국어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JSON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—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PASS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0980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Add row to Dataset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영어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JSON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—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PASS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CLI — Review 기능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900000"/>
          <a:ext cx="11328119" cy="54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4059"/>
                <a:gridCol w="5664060"/>
              </a:tblGrid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항목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내용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점수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60/100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Syntax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100점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Patterns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50점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Naming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40점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Performance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60점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발견 이슈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8개 (Error 5, Warning 3)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개선 제안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네이밍 표준화, 페이징 추가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온프레미스 배포 아키텍처</a:t>
            </a:r>
          </a:p>
        </p:txBody>
      </p:sp>
      <p:pic>
        <p:nvPicPr>
          <p:cNvPr id="4" name="Picture 3" descr="slide27_deploy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" y="864000"/>
            <a:ext cx="10968119" cy="36387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610700"/>
            <a:ext cx="11328119" cy="1679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외부 데이터 전송: 0건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모든 컴포넌트 기업 내부망에서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권장 모델 &amp; 성능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900000"/>
          <a:ext cx="11328119" cy="54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5623"/>
                <a:gridCol w="2265623"/>
                <a:gridCol w="2265623"/>
                <a:gridCol w="2265623"/>
                <a:gridCol w="2265627"/>
              </a:tblGrid>
              <a:tr h="13725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모델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VRAM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품질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응답시간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권장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3725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GPT-OSS 20B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40GB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94%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~15초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 권장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3725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Qwen2.5-32B-AWQ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16GB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54%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25-65초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차선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137250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Qwen-7B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7GB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—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빠름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리뷰/QA용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MCP 서버 확장 구조</a:t>
            </a:r>
          </a:p>
        </p:txBody>
      </p:sp>
      <p:pic>
        <p:nvPicPr>
          <p:cNvPr id="4" name="Picture 3" descr="slide29_mcp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000" y="864000"/>
            <a:ext cx="10968119" cy="559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타겟 고객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864000"/>
            <a:ext cx="3632039" cy="5598000"/>
          </a:xfrm>
          <a:prstGeom prst="rect">
            <a:avLst/>
          </a:prstGeom>
          <a:solidFill>
            <a:srgbClr val="FF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972000"/>
            <a:ext cx="3416039" cy="4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FF4800"/>
                </a:solidFill>
                <a:latin typeface="Pretendard"/>
              </a:rPr>
              <a:t>금융권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12000"/>
            <a:ext cx="3416039" cy="469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망분리 환경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감사 요건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규제 준수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→ 완전 온프레미스 + 감사 추적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4280039" y="864000"/>
            <a:ext cx="3632039" cy="559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8039" y="972000"/>
            <a:ext cx="3416039" cy="4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FF4800"/>
                </a:solidFill>
                <a:latin typeface="Pretendard"/>
              </a:rPr>
              <a:t>공공기관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8039" y="1512000"/>
            <a:ext cx="3416039" cy="469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국산 SW 우선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높은 보안 요구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표준화 필요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→ 국내 SI 특화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8079" y="864000"/>
            <a:ext cx="3632039" cy="5598000"/>
          </a:xfrm>
          <a:prstGeom prst="rect">
            <a:avLst/>
          </a:prstGeom>
          <a:solidFill>
            <a:srgbClr val="FF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6079" y="972000"/>
            <a:ext cx="3416039" cy="4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FF4800"/>
                </a:solidFill>
                <a:latin typeface="Pretendard"/>
              </a:rPr>
              <a:t>대기업 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6079" y="1512000"/>
            <a:ext cx="3416039" cy="469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폐쇄망 운영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자체 표준 보유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대량 화면 생성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200" b="0" i="0">
                <a:solidFill>
                  <a:srgbClr val="333333"/>
                </a:solidFill>
                <a:latin typeface="Pretendard"/>
              </a:rPr>
              <a:t>→ Spec-Driven +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경쟁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32000" y="900000"/>
          <a:ext cx="11328119" cy="549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2029"/>
                <a:gridCol w="2832029"/>
                <a:gridCol w="2832029"/>
                <a:gridCol w="2832032"/>
              </a:tblGrid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기능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Cline Enterprise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GitHub Copilot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Pretendard"/>
                        </a:rPr>
                        <a:t>Coco</a:t>
                      </a:r>
                    </a:p>
                  </a:txBody>
                  <a:tcPr marL="54000" marR="54000" marT="28800" marB="28800" anchor="ctr">
                    <a:solidFill>
                      <a:srgbClr val="FF6B2B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결정론적 출력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API 허용목록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완전 온프레미스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△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Spec-Driven 생성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코드 프리뷰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웹 기반 Studio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</a:t>
                      </a:r>
                    </a:p>
                  </a:txBody>
                  <a:tcPr marL="54000" marR="54000" marT="28800" marB="28800" anchor="ctr">
                    <a:solidFill>
                      <a:srgbClr val="F8F9FA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  <a:tr h="686250"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국내 SI 특화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❌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333333"/>
                          </a:solidFill>
                          <a:latin typeface="Pretendard"/>
                        </a:rPr>
                        <a:t>✅</a:t>
                      </a:r>
                    </a:p>
                  </a:txBody>
                  <a:tcPr marL="54000" marR="54000" marT="28800" marB="28800" anchor="ctr">
                    <a:solidFill>
                      <a:srgbClr val="FFF5F0"/>
                    </a:solidFill>
                    <a:lnL w="6350">
                      <a:solidFill>
                        <a:srgbClr val="CCCCCC"/>
                      </a:solidFill>
                    </a:lnL>
                    <a:lnR w="6350">
                      <a:solidFill>
                        <a:srgbClr val="CCCCCC"/>
                      </a:solidFill>
                    </a:lnR>
                    <a:lnT w="6350">
                      <a:solidFill>
                        <a:srgbClr val="CCCCCC"/>
                      </a:solidFill>
                    </a:lnT>
                    <a:lnB w="6350">
                      <a:solidFill>
                        <a:srgbClr val="CCCCCC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사용 시나리오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792000"/>
            <a:ext cx="548405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4800"/>
                </a:solidFill>
                <a:latin typeface="Pretendard"/>
              </a:rPr>
              <a:t>금융 SI — xFrame5 화면 대량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224000"/>
            <a:ext cx="5484059" cy="523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ERD 임포트 → 도메인 모델 생성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자연어로 화면 생성 요청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4 엔티티 × 3 Screen Types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= 12 화면 자동 생성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코드 리뷰 → 품질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76059" y="792000"/>
            <a:ext cx="548405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4800"/>
                </a:solidFill>
                <a:latin typeface="Pretendard"/>
              </a:rPr>
              <a:t>대기업 내부 플랫폼 연동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6059" y="1224000"/>
            <a:ext cx="5484059" cy="523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Sparos DevX 등 자체 플랫폼과 API 연동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VS Code 익스텐션 통합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CLI 기반 CI/CD 파이프라인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300" b="0" i="0">
                <a:solidFill>
                  <a:srgbClr val="333333"/>
                </a:solidFill>
                <a:latin typeface="Pretendard"/>
              </a:rPr>
              <a:t>REST API로 기존 시스템 통합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고객 반응</a:t>
            </a:r>
          </a:p>
        </p:txBody>
      </p:sp>
      <p:sp>
        <p:nvSpPr>
          <p:cNvPr id="4" name="Rectangle 3"/>
          <p:cNvSpPr/>
          <p:nvPr/>
        </p:nvSpPr>
        <p:spPr>
          <a:xfrm>
            <a:off x="720000" y="1080000"/>
            <a:ext cx="10752119" cy="1620000"/>
          </a:xfrm>
          <a:prstGeom prst="rect">
            <a:avLst/>
          </a:prstGeom>
          <a:solidFill>
            <a:srgbClr val="FF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0000" y="1260000"/>
            <a:ext cx="10032119" cy="90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0" i="0">
                <a:solidFill>
                  <a:srgbClr val="333333"/>
                </a:solidFill>
                <a:latin typeface="Pretendard"/>
              </a:rPr>
              <a:t>“프로젝트 단위의 스펙을 관리하고 코드를 생성해주는 접근 방식이 인상적”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2160000"/>
            <a:ext cx="1003211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0" i="0">
                <a:solidFill>
                  <a:srgbClr val="B73D0C"/>
                </a:solidFill>
                <a:latin typeface="Pretendard"/>
              </a:rPr>
              <a:t>— 신세계 I&amp;C IT개발혁신T/F (2026.02.11)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3060000"/>
            <a:ext cx="11328119" cy="351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반복 업무(Boilerplate) 절감 기대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향후 PoC 협의 예정</a:t>
            </a:r>
          </a:p>
          <a:p>
            <a:pPr algn="l">
              <a:spcAft>
                <a:spcPts val="2400"/>
              </a:spcAft>
              <a:buChar char="•"/>
            </a:pPr>
            <a:r>
              <a:rPr sz="1400" b="0" i="0">
                <a:solidFill>
                  <a:srgbClr val="333333"/>
                </a:solidFill>
                <a:latin typeface="Pretendard"/>
              </a:rPr>
              <a:t>VS Code 익스텐션/플랫폼 연동 관심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540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1328119" cy="540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Pretendard"/>
              </a:rPr>
              <a:t>향후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72000"/>
            <a:ext cx="2880000" cy="16620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972000"/>
            <a:ext cx="2664000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Phase 1 (현재)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12000" y="972000"/>
            <a:ext cx="540000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0" i="0">
                <a:solidFill>
                  <a:srgbClr val="FF4800"/>
                </a:solidFill>
                <a:latin typeface="Pretendard"/>
              </a:rPr>
              <a:t>▶</a:t>
            </a:r>
          </a:p>
        </p:txBody>
      </p:sp>
      <p:sp>
        <p:nvSpPr>
          <p:cNvPr id="7" name="Rectangle 6"/>
          <p:cNvSpPr/>
          <p:nvPr/>
        </p:nvSpPr>
        <p:spPr>
          <a:xfrm>
            <a:off x="3852000" y="972000"/>
            <a:ext cx="7908119" cy="1662000"/>
          </a:xfrm>
          <a:prstGeom prst="rect">
            <a:avLst/>
          </a:prstGeom>
          <a:solidFill>
            <a:srgbClr val="FF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60000" y="972000"/>
            <a:ext cx="7692119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333333"/>
                </a:solidFill>
                <a:latin typeface="Pretendard"/>
              </a:rPr>
              <a:t>xFrame5 + Vue3 코드 생성, Studio, CLI ✅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78000"/>
            <a:ext cx="2880000" cy="1662000"/>
          </a:xfrm>
          <a:prstGeom prst="rect">
            <a:avLst/>
          </a:prstGeom>
          <a:solidFill>
            <a:srgbClr val="B73D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0000" y="2778000"/>
            <a:ext cx="2664000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Phase 2 (2026 H2)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2000" y="2778000"/>
            <a:ext cx="540000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0" i="0">
                <a:solidFill>
                  <a:srgbClr val="B73D0C"/>
                </a:solidFill>
                <a:latin typeface="Pretendard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52000" y="2778000"/>
            <a:ext cx="7908119" cy="1662000"/>
          </a:xfrm>
          <a:prstGeom prst="rect">
            <a:avLst/>
          </a:prstGeom>
          <a:solidFill>
            <a:srgbClr val="FF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60000" y="2778000"/>
            <a:ext cx="7692119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333333"/>
                </a:solidFill>
                <a:latin typeface="Pretendard"/>
              </a:rPr>
              <a:t>Spring Boot + 고급 리뷰 + VS Code 익스텐션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4584000"/>
            <a:ext cx="2880000" cy="1662000"/>
          </a:xfrm>
          <a:prstGeom prst="rect">
            <a:avLst/>
          </a:prstGeom>
          <a:solidFill>
            <a:srgbClr val="FF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0000" y="4584000"/>
            <a:ext cx="2664000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400" b="1" i="0">
                <a:solidFill>
                  <a:srgbClr val="FFFFFF"/>
                </a:solidFill>
                <a:latin typeface="Pretendard"/>
              </a:rPr>
              <a:t>Phase 3 (2027)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2000" y="4584000"/>
            <a:ext cx="540000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000" b="0" i="0">
                <a:solidFill>
                  <a:srgbClr val="FF6B2B"/>
                </a:solidFill>
                <a:latin typeface="Pretendard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52000" y="4584000"/>
            <a:ext cx="7908119" cy="1662000"/>
          </a:xfrm>
          <a:prstGeom prst="rect">
            <a:avLst/>
          </a:prstGeom>
          <a:solidFill>
            <a:srgbClr val="FF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60000" y="4584000"/>
            <a:ext cx="7692119" cy="16620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300" b="0" i="0">
                <a:solidFill>
                  <a:srgbClr val="333333"/>
                </a:solidFill>
                <a:latin typeface="Pretendard"/>
              </a:rPr>
              <a:t>React + 멀티 에이전트 + 자동 테스트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320000" y="3060000"/>
            <a:ext cx="3600000" cy="28800"/>
          </a:xfrm>
          <a:prstGeom prst="rect">
            <a:avLst/>
          </a:prstGeom>
          <a:solidFill>
            <a:srgbClr val="FF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1800000"/>
            <a:ext cx="10032119" cy="1440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ctr"/>
            <a:r>
              <a:rPr sz="4000" b="1" i="0">
                <a:solidFill>
                  <a:srgbClr val="FFFFFF"/>
                </a:solidFill>
                <a:latin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3420000"/>
            <a:ext cx="10032119" cy="72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800" b="0" i="0">
                <a:solidFill>
                  <a:srgbClr val="FFF5F0"/>
                </a:solidFill>
                <a:latin typeface="Pretendard"/>
              </a:rPr>
              <a:t>Coco — AI 코드 거버넌스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4500000"/>
            <a:ext cx="1003211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FF5F0"/>
                </a:solidFill>
                <a:latin typeface="Pretendard"/>
              </a:rPr>
              <a:t>Secern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4788000"/>
            <a:ext cx="10032119" cy="360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000" b="0" i="0">
                <a:solidFill>
                  <a:srgbClr val="FFF5F0"/>
                </a:solidFill>
                <a:latin typeface="Pretendard"/>
              </a:rPr>
              <a:t>coco.secernai.net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6570000"/>
            <a:ext cx="216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l"/>
            <a:r>
              <a:rPr sz="800" b="0" i="0">
                <a:solidFill>
                  <a:srgbClr val="B73D0C"/>
                </a:solidFill>
                <a:latin typeface="Pretendard"/>
              </a:rPr>
              <a:t>Secern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0119" y="6570000"/>
            <a:ext cx="1080000" cy="288000"/>
          </a:xfrm>
          <a:prstGeom prst="rect">
            <a:avLst/>
          </a:prstGeom>
          <a:noFill/>
        </p:spPr>
        <p:txBody>
          <a:bodyPr wrap="square" anchor="b"/>
          <a:lstStyle/>
          <a:p>
            <a:pPr algn="r"/>
            <a:r>
              <a:rPr sz="800" b="0" i="0">
                <a:solidFill>
                  <a:srgbClr val="B73D0C"/>
                </a:solidFill>
                <a:latin typeface="Pretendard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